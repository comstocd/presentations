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871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"Ownership"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28346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48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84-Year-Old with Colitis, Obstruction, and a Case Nobody Owned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5699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4754880"/>
            <a:ext cx="850392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Clinical Teaching Case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D5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— Clinical Teaching Case  |  Evidence-Based Medicine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8503920" cy="1051560"/>
          </a:xfrm>
          <a:prstGeom prst="rect">
            <a:avLst/>
          </a:prstGeom>
          <a:solidFill>
            <a:srgbClr val="0F2D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82296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84-Year-Old Male  ·  Admitted 9/6/2023  ·  Chief Complaint: LLQ Pain, Diarrhea, Rectal Bleeding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2651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011680"/>
            <a:ext cx="64008" cy="265176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" y="20848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PMH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" y="2395728"/>
            <a:ext cx="2432304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 s/p prostatectomy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radiation (2020)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ureteral stent (radiation stricture)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BPH on tamsulosin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Hyperlipidemia on statin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Urinary incontinence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2011680"/>
            <a:ext cx="2651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2011680"/>
            <a:ext cx="64008" cy="2651760"/>
          </a:xfrm>
          <a:prstGeom prst="rect">
            <a:avLst/>
          </a:prstGeom>
          <a:solidFill>
            <a:srgbClr val="1A5699"/>
          </a:solidFill>
          <a:ln/>
        </p:spPr>
      </p:sp>
      <p:sp>
        <p:nvSpPr>
          <p:cNvPr id="14" name="Text 12"/>
          <p:cNvSpPr/>
          <p:nvPr/>
        </p:nvSpPr>
        <p:spPr>
          <a:xfrm>
            <a:off x="3282696" y="20848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Labs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82696" y="2395728"/>
            <a:ext cx="2432304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WBC: 12,000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Lactate: ELEVATED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 present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H&amp;H: stable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cultures: pending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UA, urine lytes ordered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2011680"/>
            <a:ext cx="2651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2011680"/>
            <a:ext cx="64008" cy="26517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8" name="Text 16"/>
          <p:cNvSpPr/>
          <p:nvPr/>
        </p:nvSpPr>
        <p:spPr>
          <a:xfrm>
            <a:off x="6117336" y="20848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Abdomen/Pelvis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17336" y="2395728"/>
            <a:ext cx="2432304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long-segment colitis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Mid-distal transverse → sigmoid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inflammatory changes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Ureteral stent in place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Mild-mod hydronephrosis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pelvic ascites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709160"/>
            <a:ext cx="8503920" cy="292608"/>
          </a:xfrm>
          <a:prstGeom prst="rect">
            <a:avLst/>
          </a:prstGeom>
          <a:solidFill>
            <a:srgbClr val="D4871D">
              <a:alpha val="12000"/>
            </a:srgbClr>
          </a:solidFill>
          <a:ln w="19050">
            <a:solidFill>
              <a:srgbClr val="D487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4782312"/>
            <a:ext cx="82844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Note: Ureteral stent placed BECAUSE of radiation-induced stricture — radiation pelvic damage established from Day 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D5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Differential Diagnosis: Acute Colitis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— Clinical Teaching Case  |  Evidence-Based Medicine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743200" cy="4572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77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Salmonella, Shigella,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Campylobacter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difficile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coli O157:H7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CMV (immunosupp.)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Yersinia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4114800"/>
            <a:ext cx="2743200" cy="658368"/>
          </a:xfrm>
          <a:prstGeom prst="rect">
            <a:avLst/>
          </a:prstGeom>
          <a:solidFill>
            <a:srgbClr val="1E7E4B">
              <a:alpha val="15000"/>
            </a:srgbClr>
          </a:solidFill>
          <a:ln w="12700">
            <a:solidFill>
              <a:srgbClr val="1E7E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4133088"/>
            <a:ext cx="2596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Stool PCR/C. diff ordered — ultimately NEGATIVE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777240"/>
            <a:ext cx="274320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487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777240"/>
            <a:ext cx="2743200" cy="457200"/>
          </a:xfrm>
          <a:prstGeom prst="rect">
            <a:avLst/>
          </a:prstGeom>
          <a:solidFill>
            <a:srgbClr val="D4871D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777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Ischemic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46120" y="1298448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Mesenteric vascular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Watershed areas: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splenic flex / rectosig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Atherosclerosis risk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(severe CAC on CT)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Low-flow states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154680" y="4114800"/>
            <a:ext cx="2743200" cy="658368"/>
          </a:xfrm>
          <a:prstGeom prst="rect">
            <a:avLst/>
          </a:prstGeom>
          <a:solidFill>
            <a:srgbClr val="D4871D">
              <a:alpha val="15000"/>
            </a:srgbClr>
          </a:solidFill>
          <a:ln w="12700">
            <a:solidFill>
              <a:srgbClr val="D487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4133088"/>
            <a:ext cx="2596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8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distribution fits; atherosclerosis present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777240"/>
            <a:ext cx="274320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B03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777240"/>
            <a:ext cx="2743200" cy="45720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777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Radiation-Induced 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1298448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pelvic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2020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Sigmoid/rectum in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field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Ureteral stent = proof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radiation injury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Fibrosis, ischemia,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ulceration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35040" y="4114800"/>
            <a:ext cx="2743200" cy="658368"/>
          </a:xfrm>
          <a:prstGeom prst="rect">
            <a:avLst/>
          </a:prstGeom>
          <a:solidFill>
            <a:srgbClr val="B03A2E">
              <a:alpha val="15000"/>
            </a:srgbClr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08192" y="4133088"/>
            <a:ext cx="2596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DIAGNOSIS — established at surgery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solidFill>
            <a:srgbClr val="148A7A">
              <a:alpha val="12000"/>
            </a:srgbClr>
          </a:solidFill>
          <a:ln w="19050">
            <a:solidFill>
              <a:srgbClr val="148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919472"/>
            <a:ext cx="83759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ACG Guidelines: Radiation colitis must be high on the differential when colitis occurs in a patient with prior pelvic radiation — especially with confirmatory evidence like ureteral stricture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The Clue That Was There All Along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— Clinical Teaching Case  |  Evidence-Based Medicine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ureteral stent was not incidental — it was a surrogate marker of pelvic radiation injury severity.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1480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17320"/>
            <a:ext cx="4114800" cy="411480"/>
          </a:xfrm>
          <a:prstGeom prst="rect">
            <a:avLst/>
          </a:prstGeom>
          <a:solidFill>
            <a:srgbClr val="1A5699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417320"/>
            <a:ext cx="39684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in the Chart (Day 1)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 s/p prostatectomy + pelvic radiation (2020)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ureteral stent placed for radiation-induced ureteral stricture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hydronephrosis from stent/stricture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CT: severe long-segment colitis, transverse → sigmoid (radiation field distribution)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stool cultures by Day 3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16052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417320"/>
            <a:ext cx="4160520" cy="41148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1417320"/>
            <a:ext cx="4014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Have Been Concluded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920240"/>
            <a:ext cx="3977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to the pelvis in 2020 → ureteral stricture AND likely bowel injury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sigmoid/rectum sits directly in the prostate radiation field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Colitis distribution perfectly matches radiation field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Radiation-induced stricture/fibrosis explains later obstruction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Infectious etiology was less likely from the start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4681728"/>
            <a:ext cx="8595360" cy="310896"/>
          </a:xfrm>
          <a:prstGeom prst="rect">
            <a:avLst/>
          </a:prstGeom>
          <a:solidFill>
            <a:srgbClr val="B03A2E">
              <a:alpha val="12000"/>
            </a:srgbClr>
          </a:solidFill>
          <a:ln w="19050">
            <a:solidFill>
              <a:srgbClr val="B03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4754880"/>
            <a:ext cx="8375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At surgery (Day 10): "Lead pipe" sigmoid/rectum — classic chronic radiation injury. This was not a new finding. It was years in the making.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8A7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 1 — Radiation-Induced Bowel Injury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— Clinical Teaching Case  |  Evidence-Based Medicine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530352"/>
          </a:xfrm>
          <a:prstGeom prst="rect">
            <a:avLst/>
          </a:prstGeom>
          <a:solidFill>
            <a:srgbClr val="148A7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77724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Epidemiology: 5–15% of pelvic radiation patients develop significant bowel injury. Rectum and sigmoid are most vulnerable (fixed, in-field).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444752"/>
            <a:ext cx="4160520" cy="1536192"/>
          </a:xfrm>
          <a:prstGeom prst="rect">
            <a:avLst/>
          </a:prstGeom>
          <a:solidFill>
            <a:srgbClr val="FFFFFF"/>
          </a:solidFill>
          <a:ln w="8890">
            <a:solidFill>
              <a:srgbClr val="148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44752"/>
            <a:ext cx="73152" cy="1536192"/>
          </a:xfrm>
          <a:prstGeom prst="rect">
            <a:avLst/>
          </a:prstGeom>
          <a:solidFill>
            <a:srgbClr val="148A7A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Phase (0–6 wk)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39319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Mucosal inflammation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Edema, diarrhea, tenesmus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 cell loss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self-limited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444752"/>
            <a:ext cx="4160520" cy="1536192"/>
          </a:xfrm>
          <a:prstGeom prst="rect">
            <a:avLst/>
          </a:prstGeom>
          <a:solidFill>
            <a:srgbClr val="FFFFFF"/>
          </a:solidFill>
          <a:ln w="8890">
            <a:solidFill>
              <a:srgbClr val="148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444752"/>
            <a:ext cx="73152" cy="1536192"/>
          </a:xfrm>
          <a:prstGeom prst="rect">
            <a:avLst/>
          </a:prstGeom>
          <a:solidFill>
            <a:srgbClr val="148A7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Phase (months–years)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39319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Obliterative endarteritis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Ischemia, fibrosis, stricture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"Lead pipe" colon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PATIENT's pathology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4160520" cy="1536192"/>
          </a:xfrm>
          <a:prstGeom prst="rect">
            <a:avLst/>
          </a:prstGeom>
          <a:solidFill>
            <a:srgbClr val="FFFFFF"/>
          </a:solidFill>
          <a:ln w="8890">
            <a:solidFill>
              <a:srgbClr val="148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108960"/>
            <a:ext cx="73152" cy="1536192"/>
          </a:xfrm>
          <a:prstGeom prst="rect">
            <a:avLst/>
          </a:prstGeom>
          <a:solidFill>
            <a:srgbClr val="148A7A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172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Presentations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493008"/>
            <a:ext cx="39319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Colitis (bloody diarrhea)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Stricture → obstruction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Fistula (rectal-vaginal, rectal-bladder)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Perforation (rare, serious)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108960"/>
            <a:ext cx="4160520" cy="1536192"/>
          </a:xfrm>
          <a:prstGeom prst="rect">
            <a:avLst/>
          </a:prstGeom>
          <a:solidFill>
            <a:srgbClr val="FFFFFF"/>
          </a:solidFill>
          <a:ln w="8890">
            <a:solidFill>
              <a:srgbClr val="148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108960"/>
            <a:ext cx="73152" cy="1536192"/>
          </a:xfrm>
          <a:prstGeom prst="rect">
            <a:avLst/>
          </a:prstGeom>
          <a:solidFill>
            <a:srgbClr val="148A7A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172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Clues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493008"/>
            <a:ext cx="39319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pelvic radiation (prostate, cervical, rectal Ca)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organ strictures (ureteral!)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CT: long-segment colitis in radiation field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Colonoscopy: telangiectasia, friable mucosa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148A7A">
              <a:alpha val="12000"/>
            </a:srgbClr>
          </a:solidFill>
          <a:ln w="19050">
            <a:solidFill>
              <a:srgbClr val="148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809744"/>
            <a:ext cx="83759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ACG Guidelines on Radiation Colitis; Stacey et al. NEJM 2014; UpToDate — Radiation Injury to the GI Tract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D5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Timeline — 22 Days of Progressive Deterioration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— Clinical Teaching Case  |  Evidence-Based Medicine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2240280"/>
            <a:ext cx="329184" cy="329184"/>
          </a:xfrm>
          <a:prstGeom prst="ellipse">
            <a:avLst/>
          </a:prstGeom>
          <a:solidFill>
            <a:srgbClr val="1A5699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2633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-182880" y="13716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Colitis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0" cy="137160"/>
          </a:xfrm>
          <a:prstGeom prst="line">
            <a:avLst/>
          </a:prstGeom>
          <a:noFill/>
          <a:ln w="12700">
            <a:solidFill>
              <a:srgbClr val="1A56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64208" y="2240280"/>
            <a:ext cx="329184" cy="329184"/>
          </a:xfrm>
          <a:prstGeom prst="ellipse">
            <a:avLst/>
          </a:prstGeom>
          <a:solidFill>
            <a:srgbClr val="D4871D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2633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8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13716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UGI Bleed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0" y="2240280"/>
            <a:ext cx="0" cy="137160"/>
          </a:xfrm>
          <a:prstGeom prst="line">
            <a:avLst/>
          </a:prstGeom>
          <a:noFill/>
          <a:ln w="12700">
            <a:solidFill>
              <a:srgbClr val="D4871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01568" y="2240280"/>
            <a:ext cx="329184" cy="329184"/>
          </a:xfrm>
          <a:prstGeom prst="ellipse">
            <a:avLst/>
          </a:prstGeom>
          <a:solidFill>
            <a:srgbClr val="D4871D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2633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8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13716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Distension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0" y="2240280"/>
            <a:ext cx="0" cy="137160"/>
          </a:xfrm>
          <a:prstGeom prst="line">
            <a:avLst/>
          </a:prstGeom>
          <a:noFill/>
          <a:ln w="12700">
            <a:solidFill>
              <a:srgbClr val="D4871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76088" y="2240280"/>
            <a:ext cx="329184" cy="329184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2633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13716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High-grade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SBO, 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40680" y="2240280"/>
            <a:ext cx="0" cy="137160"/>
          </a:xfrm>
          <a:prstGeom prst="line">
            <a:avLst/>
          </a:prstGeom>
          <a:noFill/>
          <a:ln w="12700">
            <a:solidFill>
              <a:srgbClr val="B03A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56248" y="2240280"/>
            <a:ext cx="329184" cy="329184"/>
          </a:xfrm>
          <a:prstGeom prst="ellipse">
            <a:avLst/>
          </a:prstGeom>
          <a:solidFill>
            <a:srgbClr val="1E7E4B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2633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13716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Colostomy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20840" y="2240280"/>
            <a:ext cx="0" cy="137160"/>
          </a:xfrm>
          <a:prstGeom prst="line">
            <a:avLst/>
          </a:prstGeom>
          <a:noFill/>
          <a:ln w="12700">
            <a:solidFill>
              <a:srgbClr val="1E7E4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65008" y="2240280"/>
            <a:ext cx="329184" cy="329184"/>
          </a:xfrm>
          <a:prstGeom prst="ellipse">
            <a:avLst/>
          </a:prstGeom>
          <a:solidFill>
            <a:srgbClr val="0F2D55"/>
          </a:solidFill>
          <a:ln/>
        </p:spPr>
      </p:sp>
      <p:sp>
        <p:nvSpPr>
          <p:cNvPr id="28" name="Text 26"/>
          <p:cNvSpPr/>
          <p:nvPr/>
        </p:nvSpPr>
        <p:spPr>
          <a:xfrm>
            <a:off x="7955280" y="2633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89520" y="13716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DNI/DNR + PE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2240280"/>
            <a:ext cx="0" cy="137160"/>
          </a:xfrm>
          <a:prstGeom prst="line">
            <a:avLst/>
          </a:prstGeom>
          <a:noFill/>
          <a:ln w="12700">
            <a:solidFill>
              <a:srgbClr val="0F2D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017520"/>
            <a:ext cx="8595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11480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Intervention Windows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1480" y="3401568"/>
            <a:ext cx="8321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Radiation history + ureteral stent should have raised radiation colitis as primary Dx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Negative cultures → pivot diagnosis. TPN should have been considered (NPO patient)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6–9: High-grade SBO on CT with respiratory compromise — earlier surgical decision needed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9: Goals-of-care discussion — when did DNI/DNR happen vs. when should it have happened?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9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 2 — Small Bowel Obstruction: When to Operate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— Clinical Teaching Case  |  Evidence-Based Medicine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7772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Practice Management Guidelines (validated by NEJM, ACS JAMA Surgery)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11480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7E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4114800" cy="384048"/>
          </a:xfrm>
          <a:prstGeom prst="rect">
            <a:avLst/>
          </a:prstGeom>
          <a:solidFill>
            <a:srgbClr val="1E7E4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258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SBO — Non-Operative Trial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801368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gas / BM = incomplete obstruction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NPO + IV fluids + NG tube decompression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Trial: 48–72 hours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Gastrografin challenge (oral contrast) may predict need for surgery (sensitivity 96%, specificity 98%)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abdominal exams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420624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B03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325880"/>
            <a:ext cx="4206240" cy="384048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3258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High-Grade / Complete SBO — Operate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801368"/>
            <a:ext cx="4023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contrast passage to colon on 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Fever, leukocytosis, peritonitis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obstruction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of non-operative Rx (48–72h)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PATIENT: contrast only in esophagus/stomach on Day 9 CT → high-grade SBO → operated Day 10 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584448"/>
            <a:ext cx="85953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487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584448"/>
            <a:ext cx="73152" cy="960120"/>
          </a:xfrm>
          <a:prstGeom prst="rect">
            <a:avLst/>
          </a:prstGeom>
          <a:solidFill>
            <a:srgbClr val="D4871D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6393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Application: NG Tube Refusal — An Ethical Consideration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91363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removed NG tube and refused re-insertion. He was only willing to accept endoscopic placement under anesthesia. Per ACS Ethics guidelines, a capacitated patient may refuse even life-sustaining treatment — however this creates an obligation to expedite goals-of-care discussions and escalate surgical decision-making.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645152"/>
            <a:ext cx="8595360" cy="310896"/>
          </a:xfrm>
          <a:prstGeom prst="rect">
            <a:avLst/>
          </a:prstGeom>
          <a:solidFill>
            <a:srgbClr val="1A5699">
              <a:alpha val="12000"/>
            </a:srgbClr>
          </a:solidFill>
          <a:ln w="19050">
            <a:solidFill>
              <a:srgbClr val="1A56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718304"/>
            <a:ext cx="8375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EAST PMG for SBO (Level I); Fevang et al. NEJM 2021; ACS Ethics Manual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8A7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 3 — When to Start Parenteral Nutrition (ASPEN Guidelines)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— Clinical Teaching Case  |  Evidence-Based Medicine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7772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ASPEN / SCCM Clinical Guidelines for Nutrition Support — endorsed by JPEN, Crit Care Med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53312"/>
            <a:ext cx="73152" cy="713232"/>
          </a:xfrm>
          <a:prstGeom prst="rect">
            <a:avLst/>
          </a:prstGeom>
          <a:solidFill>
            <a:srgbClr val="1E7E4B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399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Enteral preferred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70078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always preferred when GI tract is functional. Lower infection risk, preserves gut integrity, supports microbiome.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157984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57984"/>
            <a:ext cx="73152" cy="713232"/>
          </a:xfrm>
          <a:prstGeom prst="rect">
            <a:avLst/>
          </a:prstGeom>
          <a:solidFill>
            <a:srgbClr val="1A5699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203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PN when EN not feasible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50545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5–7 days without adequate enteral intake in a previously well-nourished patient. In malnourished patients: 3–5 days.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62656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62656"/>
            <a:ext cx="73152" cy="713232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008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Malnutrition flag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3101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Pre-existing malnutrition accelerates the timeline. This patient: 84yo, prolonged NPO, ultimately discharged with 'severe protein-calorie malnutrition'.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767328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767328"/>
            <a:ext cx="73152" cy="713232"/>
          </a:xfrm>
          <a:prstGeom prst="rect">
            <a:avLst/>
          </a:prstGeom>
          <a:solidFill>
            <a:srgbClr val="D4871D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813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TPN in this case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1148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NPO began Day 1. TPN not started until Day 9 — a 9-day gap. ASPEN criteria were met by Day 5–6 at the latest. Delayed TPN likely contributed to discharge malnutrition.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645152"/>
            <a:ext cx="8595360" cy="310896"/>
          </a:xfrm>
          <a:prstGeom prst="rect">
            <a:avLst/>
          </a:prstGeom>
          <a:solidFill>
            <a:srgbClr val="148A7A">
              <a:alpha val="12000"/>
            </a:srgbClr>
          </a:solidFill>
          <a:ln w="19050">
            <a:solidFill>
              <a:srgbClr val="148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718304"/>
            <a:ext cx="8375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ASPEN/SCCM Guidelines 2016 (JPEN); ESPEN Clinical Nutrition Guidelines 2023; UpToDate — Nutrition Support in Hospitalized Adults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 4 — VTE Prophylaxis &amp; PICC-Related Thrombosis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— Clinical Teaching Case  |  Evidence-Based Medicine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60520" cy="384048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77724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Dx: PE from RUE DVT (PICC)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234440"/>
            <a:ext cx="39319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 placed Day 9 for TPN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diagnosed at/before Day 22 discharge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PICC-related upper extremity DVT: incidence 2–7% per CHEST guidelines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Postoperative state + malignancy history (prostate Ca) = high VTE risk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CHEST: All hospitalized medical patients should receive pharmacologic thromboprophylaxis unless contraindicated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1480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77240"/>
            <a:ext cx="4114800" cy="384048"/>
          </a:xfrm>
          <a:prstGeom prst="rect">
            <a:avLst/>
          </a:prstGeom>
          <a:solidFill>
            <a:srgbClr val="1A5699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7772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&amp; Management (CHEST 2022)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234440"/>
            <a:ext cx="391363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Prophylaxis: LMWH or UFH in all non-bleeding hospitalized patients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 best practices: smallest lumen, single lumen if possible; remove when no longer needed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DVT from central catheter: Anticoagulate for 3 months minimum OR as long as catheter is in place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Post-op VTE risk: Highest in abdominal/pelvic surgery — this patient had laparotomy Day 10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patients: LMWH preferred (ASCO 2023 — strong recommendation)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B03A2E">
              <a:alpha val="12000"/>
            </a:srgbClr>
          </a:solidFill>
          <a:ln w="19050">
            <a:solidFill>
              <a:srgbClr val="B03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4809744"/>
            <a:ext cx="83759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CHEST Antithrombotic Guidelines 2022; ASCO VTE Prophylaxis Guidelines 2023; UpToDate — Upper Extremity DVT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D5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 5 — The "Ownership" Problem in Complex Inpatient Care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— Clinical Teaching Case  |  Evidence-Based Medicine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0F2D55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7772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is the captain of this ship?"  —  When nobody owns a complex patient, the patient owns the outcome.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1371600" cy="475488"/>
          </a:xfrm>
          <a:prstGeom prst="rect">
            <a:avLst/>
          </a:prstGeom>
          <a:solidFill>
            <a:srgbClr val="0F2D5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988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45920" y="1389888"/>
            <a:ext cx="822960" cy="475488"/>
          </a:xfrm>
          <a:prstGeom prst="rect">
            <a:avLst/>
          </a:prstGeom>
          <a:solidFill>
            <a:srgbClr val="0F2D5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1389888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68880" y="1389888"/>
            <a:ext cx="2743200" cy="475488"/>
          </a:xfrm>
          <a:prstGeom prst="rect">
            <a:avLst/>
          </a:prstGeom>
          <a:solidFill>
            <a:srgbClr val="0F2D5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38988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12080" y="1389888"/>
            <a:ext cx="3291840" cy="475488"/>
          </a:xfrm>
          <a:prstGeom prst="rect">
            <a:avLst/>
          </a:prstGeom>
          <a:solidFill>
            <a:srgbClr val="0F2D5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138988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865376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86537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45920" y="1865376"/>
            <a:ext cx="822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1865376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68880" y="1865376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186537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NPO, IVF, Abx, GI/Urology consult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12080" y="1865376"/>
            <a:ext cx="3291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865376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centralize radiation etiology; delayed TPN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340864"/>
            <a:ext cx="1371600" cy="475488"/>
          </a:xfrm>
          <a:prstGeom prst="rect">
            <a:avLst/>
          </a:prstGeom>
          <a:solidFill>
            <a:srgbClr val="E8EE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340864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 (1st)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45920" y="2340864"/>
            <a:ext cx="822960" cy="475488"/>
          </a:xfrm>
          <a:prstGeom prst="rect">
            <a:avLst/>
          </a:prstGeom>
          <a:solidFill>
            <a:srgbClr val="E8EE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234086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68880" y="2340864"/>
            <a:ext cx="2743200" cy="475488"/>
          </a:xfrm>
          <a:prstGeom prst="rect">
            <a:avLst/>
          </a:prstGeom>
          <a:solidFill>
            <a:srgbClr val="E8EE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14600" y="234086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diet, stool PCR, 'further plans pending'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212080" y="2340864"/>
            <a:ext cx="3291840" cy="475488"/>
          </a:xfrm>
          <a:prstGeom prst="rect">
            <a:avLst/>
          </a:prstGeom>
          <a:solidFill>
            <a:srgbClr val="E8EE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2340864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definitive plan; no follow-up commitment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2816352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81635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(1st)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645920" y="2816352"/>
            <a:ext cx="822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91640" y="2816352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468880" y="2816352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281635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gas → not obstructive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212080" y="2816352"/>
            <a:ext cx="3291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57800" y="2816352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Correct, but no re-consult plan triggered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3291840"/>
            <a:ext cx="1371600" cy="475488"/>
          </a:xfrm>
          <a:prstGeom prst="rect">
            <a:avLst/>
          </a:prstGeom>
          <a:solidFill>
            <a:srgbClr val="E8EE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29184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 (2nd)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645920" y="3291840"/>
            <a:ext cx="822960" cy="475488"/>
          </a:xfrm>
          <a:prstGeom prst="rect">
            <a:avLst/>
          </a:prstGeom>
          <a:solidFill>
            <a:srgbClr val="E8EE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91640" y="329184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468880" y="3291840"/>
            <a:ext cx="2743200" cy="475488"/>
          </a:xfrm>
          <a:prstGeom prst="rect">
            <a:avLst/>
          </a:prstGeom>
          <a:solidFill>
            <a:srgbClr val="E8EE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14600" y="329184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EGD — evacuated gastric fluid, biopsied mass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212080" y="3291840"/>
            <a:ext cx="3291840" cy="475488"/>
          </a:xfrm>
          <a:prstGeom prst="rect">
            <a:avLst/>
          </a:prstGeom>
          <a:solidFill>
            <a:srgbClr val="E8EE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57800" y="329184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Valuable, but no ownership of overall picture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3767328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376732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(2nd)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645920" y="3767328"/>
            <a:ext cx="822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91640" y="3767328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468880" y="3767328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14600" y="376732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NGT, KUB — no acute intervention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212080" y="3767328"/>
            <a:ext cx="3291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57800" y="376732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escalate despite worsening over 3 more days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74320" y="4242816"/>
            <a:ext cx="1371600" cy="475488"/>
          </a:xfrm>
          <a:prstGeom prst="rect">
            <a:avLst/>
          </a:prstGeom>
          <a:solidFill>
            <a:srgbClr val="E8EE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424281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(3rd)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645920" y="4242816"/>
            <a:ext cx="822960" cy="475488"/>
          </a:xfrm>
          <a:prstGeom prst="rect">
            <a:avLst/>
          </a:prstGeom>
          <a:solidFill>
            <a:srgbClr val="E8EE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691640" y="4242816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468880" y="4242816"/>
            <a:ext cx="2743200" cy="475488"/>
          </a:xfrm>
          <a:prstGeom prst="rect">
            <a:avLst/>
          </a:prstGeom>
          <a:solidFill>
            <a:srgbClr val="E8EE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14600" y="424281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Operated Day 10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212080" y="4242816"/>
            <a:ext cx="3291840" cy="475488"/>
          </a:xfrm>
          <a:prstGeom prst="rect">
            <a:avLst/>
          </a:prstGeom>
          <a:solidFill>
            <a:srgbClr val="E8EE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57800" y="4242816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final action, delayed by 2–3 days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solidFill>
            <a:srgbClr val="0F2D55">
              <a:alpha val="12000"/>
            </a:srgbClr>
          </a:solidFill>
          <a:ln w="19050">
            <a:solidFill>
              <a:srgbClr val="0F2D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4048" y="4782312"/>
            <a:ext cx="83759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lesson: A complex patient with ≥3 active consultants needs a designated "quarterback" — a single physician who integrates all information and drives the longitudinal plan.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D5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Biases at Work in This Case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— Clinical Teaching Case  |  Evidence-Based Medicine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160520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B03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4160520" cy="36576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04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 Bias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21615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Fixation on the first diagnosis (infectious colitis) despite evolving evidence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case: Negative cultures Day 3 → never formally pivoted to radiation etiology in notes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4160520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D487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04672"/>
            <a:ext cx="4160520" cy="365760"/>
          </a:xfrm>
          <a:prstGeom prst="rect">
            <a:avLst/>
          </a:prstGeom>
          <a:solidFill>
            <a:srgbClr val="D4871D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804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Effect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21615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ED framed as 'infectious vs ischemic' — radiation never entered the frame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case: All subsequent consultants built on the initial framing rather than re-examining PMH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4160520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51760"/>
            <a:ext cx="4160520" cy="365760"/>
          </a:xfrm>
          <a:prstGeom prst="rect">
            <a:avLst/>
          </a:prstGeom>
          <a:solidFill>
            <a:srgbClr val="1A5699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651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Bias (each consultant)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063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Each consultant focused on their own intervention without integrating others' findings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5844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case: GI: scoped and reported. Surgery: assessed and deferred. No one synthesized.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651760"/>
            <a:ext cx="4160520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0F2D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651760"/>
            <a:ext cx="4160520" cy="365760"/>
          </a:xfrm>
          <a:prstGeom prst="rect">
            <a:avLst/>
          </a:prstGeom>
          <a:solidFill>
            <a:srgbClr val="0F2D55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651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Omission Bias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3063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Tendency to delay action, especially when the next step is high-risk (surgery)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35844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case: Repeated 'no acute intervention needed' while patient progressively deteriorated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407408"/>
            <a:ext cx="8595360" cy="310896"/>
          </a:xfrm>
          <a:prstGeom prst="rect">
            <a:avLst/>
          </a:prstGeom>
          <a:solidFill>
            <a:srgbClr val="1A5699">
              <a:alpha val="12000"/>
            </a:srgbClr>
          </a:solidFill>
          <a:ln w="19050">
            <a:solidFill>
              <a:srgbClr val="1A56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480560"/>
            <a:ext cx="8375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Graber ML et al. "Diagnostic Error in Internal Medicine." Arch Intern Med. 2005 — cognitive biases account for ~75% of diagnostic errors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773168"/>
            <a:ext cx="9144000" cy="18288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7823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— Clinical Teaching Case  |  Evidence-Based Medicine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D5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 6 — Goals of Care &amp; Advance Directives in Deteriorating Patients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— Clinical Teaching Case  |  Evidence-Based Medicine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595360" cy="475488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0467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was discharged DNI/DNR. When was this discussed — and when should it have been?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41605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89888"/>
            <a:ext cx="64008" cy="2331720"/>
          </a:xfrm>
          <a:prstGeom prst="rect">
            <a:avLst/>
          </a:prstGeom>
          <a:solidFill>
            <a:srgbClr val="0F2D55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14630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Initiate GOC Discussions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" y="1773936"/>
            <a:ext cx="3941064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admission in any seriously ill, elderly patient with complex comorbidities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diagnosis changes significantly (malignancy, obstruction, PE)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patient is refusing treatment (NG tube) — assess capacity first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ICU-level care or operative risk is being considered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Commission: GOC documentation required for all inpatients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389888"/>
            <a:ext cx="41605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389888"/>
            <a:ext cx="64008" cy="233172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791456" y="14630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Case — Red Flags for Early GOC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91456" y="1773936"/>
            <a:ext cx="3941064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84yo with multiple comorbidities and radiation-induced bowel damage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7: Patient refusing NG tube → assess decision-making capacity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9: Respiratory compromise, high-grade SBO → very high operative risk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Operative note: DNR/DNI status must be clarified pre-operatively (ACS policy)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Discharge: DNI/DNR — was family involved early enough?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822192"/>
            <a:ext cx="85953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D487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822192"/>
            <a:ext cx="73152" cy="804672"/>
          </a:xfrm>
          <a:prstGeom prst="rect">
            <a:avLst/>
          </a:prstGeom>
          <a:solidFill>
            <a:srgbClr val="D4871D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867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vs. Competency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14223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can refuse treatment only if they have decision-making capacity (can understand, appreciate, reason, and communicate a choice). Day 7 note mentions patient trying to pull NG tube + received Haloperidol 2.5 mg — was capacity formally assessed at this point? Delirium in elderly patients does not automatically eliminate capacity but requires structured assessment (e.g., MacCAT-T or Aid to Capacity Evaluation).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718304"/>
            <a:ext cx="8595360" cy="274320"/>
          </a:xfrm>
          <a:prstGeom prst="rect">
            <a:avLst/>
          </a:prstGeom>
          <a:solidFill>
            <a:srgbClr val="D4871D">
              <a:alpha val="12000"/>
            </a:srgbClr>
          </a:solidFill>
          <a:ln w="19050">
            <a:solidFill>
              <a:srgbClr val="D487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791456"/>
            <a:ext cx="83759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ACS Statement on Advance Directives and DNR; NEJM — Shared Decision Making; Appelbaum PS, NEJM 2007 — Assessment of Patients' Competence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D5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— What This Case Teaches 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— Clinical Teaching Case  |  Evidence-Based Medicine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160520" cy="1207008"/>
          </a:xfrm>
          <a:prstGeom prst="rect">
            <a:avLst/>
          </a:prstGeom>
          <a:solidFill>
            <a:srgbClr val="FFFFFF"/>
          </a:solidFill>
          <a:ln w="8890">
            <a:solidFill>
              <a:srgbClr val="B03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969264"/>
            <a:ext cx="475488" cy="475488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9692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8961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whole PMH, not just the HPI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261872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pelvic radiation + ureteral stent = proof of radiation pelvic injury. This was the diagnosis from Day 1.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4160520" cy="1207008"/>
          </a:xfrm>
          <a:prstGeom prst="rect">
            <a:avLst/>
          </a:prstGeom>
          <a:solidFill>
            <a:srgbClr val="FFFFFF"/>
          </a:solidFill>
          <a:ln w="8890">
            <a:solidFill>
              <a:srgbClr val="D487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969264"/>
            <a:ext cx="475488" cy="475488"/>
          </a:xfrm>
          <a:prstGeom prst="ellipse">
            <a:avLst/>
          </a:prstGeom>
          <a:solidFill>
            <a:srgbClr val="D4871D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9692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0" y="8961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cultures = pivot time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1261872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infection is ruled out in a colitis patient, escalate the differential. Radiation and ischemic etiologies require different management.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130552"/>
            <a:ext cx="4160520" cy="1207008"/>
          </a:xfrm>
          <a:prstGeom prst="rect">
            <a:avLst/>
          </a:prstGeom>
          <a:solidFill>
            <a:srgbClr val="FFFFFF"/>
          </a:solidFill>
          <a:ln w="8890">
            <a:solidFill>
              <a:srgbClr val="0F2D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295144"/>
            <a:ext cx="475488" cy="475488"/>
          </a:xfrm>
          <a:prstGeom prst="ellipse">
            <a:avLst/>
          </a:prstGeom>
          <a:solidFill>
            <a:srgbClr val="0F2D55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2951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22219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patients need one quarterback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2587752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GI visits + three surgery visits + hospitalist management = nobody owned the narrative. Designate a primary decision-maker early.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130552"/>
            <a:ext cx="4160520" cy="1207008"/>
          </a:xfrm>
          <a:prstGeom prst="rect">
            <a:avLst/>
          </a:prstGeom>
          <a:solidFill>
            <a:srgbClr val="FFFFFF"/>
          </a:solidFill>
          <a:ln w="8890">
            <a:solidFill>
              <a:srgbClr val="148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36592" y="2295144"/>
            <a:ext cx="475488" cy="475488"/>
          </a:xfrm>
          <a:prstGeom prst="ellipse">
            <a:avLst/>
          </a:prstGeom>
          <a:solidFill>
            <a:srgbClr val="148A7A"/>
          </a:solidFill>
          <a:ln/>
        </p:spPr>
      </p:sp>
      <p:sp>
        <p:nvSpPr>
          <p:cNvPr id="23" name="Text 21"/>
          <p:cNvSpPr/>
          <p:nvPr/>
        </p:nvSpPr>
        <p:spPr>
          <a:xfrm>
            <a:off x="4736592" y="22951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03520" y="22219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TPN when enteral access fails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2587752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ASPEN criteria: 5–7 days without enteral intake = start PN. In the malnourished or elderly, 3–5 days. Don't let 'plans pending' delay nutrition.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456432"/>
            <a:ext cx="4160520" cy="1207008"/>
          </a:xfrm>
          <a:prstGeom prst="rect">
            <a:avLst/>
          </a:prstGeom>
          <a:solidFill>
            <a:srgbClr val="FFFFFF"/>
          </a:solidFill>
          <a:ln w="8890">
            <a:solidFill>
              <a:srgbClr val="1A56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3621024"/>
            <a:ext cx="475488" cy="475488"/>
          </a:xfrm>
          <a:prstGeom prst="ellipse">
            <a:avLst/>
          </a:prstGeom>
          <a:solidFill>
            <a:srgbClr val="1A5699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36210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35478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care must be proactive, not reactive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3913632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patient is acutely deteriorating and refusing interventions, it is too late to have the GOC conversation for the first time.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456432"/>
            <a:ext cx="4160520" cy="1207008"/>
          </a:xfrm>
          <a:prstGeom prst="rect">
            <a:avLst/>
          </a:prstGeom>
          <a:solidFill>
            <a:srgbClr val="FFFFFF"/>
          </a:solidFill>
          <a:ln w="8890">
            <a:solidFill>
              <a:srgbClr val="1E7E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36592" y="3621024"/>
            <a:ext cx="475488" cy="475488"/>
          </a:xfrm>
          <a:prstGeom prst="ellipse">
            <a:avLst/>
          </a:prstGeom>
          <a:solidFill>
            <a:srgbClr val="1E7E4B"/>
          </a:solidFill>
          <a:ln/>
        </p:spPr>
      </p:sp>
      <p:sp>
        <p:nvSpPr>
          <p:cNvPr id="33" name="Text 31"/>
          <p:cNvSpPr/>
          <p:nvPr/>
        </p:nvSpPr>
        <p:spPr>
          <a:xfrm>
            <a:off x="4736592" y="36210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03520" y="35478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VTE prophylaxis and PICC stewardship matter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3913632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central line is a thrombosis risk. LMWH prophylaxis, smallest effective lumen, and remove when no longer needed.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— Clinical Teaching Case  |  Evidence-Based Medicine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871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28346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48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Residency Rounds / Morning Report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5699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4754880"/>
            <a:ext cx="850392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Clinical Teaching Case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777240"/>
            <a:ext cx="8321040" cy="713232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D487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77240"/>
            <a:ext cx="365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8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77724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Day 1, given the radiation history + ureteral stent, what single additional question would most change your initial management?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581912"/>
            <a:ext cx="8321040" cy="713232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D487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81912"/>
            <a:ext cx="365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8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581912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what point did this patient meet criteria for surgical intervention — and what prevented that from happening earlier?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386584"/>
            <a:ext cx="8321040" cy="713232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D487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86584"/>
            <a:ext cx="365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8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386584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structure a multi-disciplinary handoff to prevent the "diffuse responsibility" pattern seen here?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191256"/>
            <a:ext cx="8321040" cy="713232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D487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91256"/>
            <a:ext cx="365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8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191256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patient refused the NG tube. How do you balance patient autonomy with clinical urgency in a potentially delirious 84-year-old?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995928"/>
            <a:ext cx="8321040" cy="713232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D487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95928"/>
            <a:ext cx="365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8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995928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discharge diagnosis includes PE. At what point during the admission should VTE prophylaxis have been initiated or escalated?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7A8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Base &amp; References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— Clinical Teaching Case  |  Evidence-Based Medicine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ACG Clinical Guideline: Acute Mesenteric Ischemia and Colonic Ischemia. Am J Gastroenterol. 2023.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Stacey R, Green JT. Radiation-induced small bowel disease: latest developments and clinical guidance. Ther Adv Chronic Dis. 2014;5(1):15–29.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ASPEN/SCCM Clinical Guidelines for Nutrition Support in the Adult Critically Ill Patient. JPEN J Parenter Enteral Nutr. 2016;40(2):159–211.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05740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EAST Practice Management Guidelines for the Management of Small Bowel Obstruction. 2013.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46888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Kearon C et al. Antithrombotic Therapy for VTE Disease. CHEST Guideline 2022.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88036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ASCO Clinical Practice Guideline Update: Venous Thromboembolism Prophylaxis and Treatment in Patients with Cancer. J Clin Oncol. 2023.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32918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Appelbaum PS. Assessment of patients' competence to consent to treatment. N Engl J Med. 2007;357(18):1834–1840.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7033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Graber ML, Franklin N, Gordon R. Diagnostic error in internal medicine. Arch Intern Med. 2005;165(13):1493–1499.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411480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UpToDate: Radiation injury to the gastrointestinal tract; Nutritional support in hospitalized adults; Management of SBO.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452628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ACS Statement on Advance Directives (DNR/DNI in the Operative Setting). 2014.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Ownership – Clinical Teaching Case</dc:title>
  <dc:subject>PptxGenJS Presentation</dc:subject>
  <dc:creator>Medical Education</dc:creator>
  <cp:lastModifiedBy>Medical Education</cp:lastModifiedBy>
  <cp:revision>1</cp:revision>
  <dcterms:created xsi:type="dcterms:W3CDTF">2026-05-10T15:26:22Z</dcterms:created>
  <dcterms:modified xsi:type="dcterms:W3CDTF">2026-05-10T15:26:22Z</dcterms:modified>
</cp:coreProperties>
</file>